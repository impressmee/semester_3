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6"/>
  </p:notesMasterIdLst>
  <p:handoutMasterIdLst>
    <p:handoutMasterId r:id="rId17"/>
  </p:handoutMasterIdLst>
  <p:sldIdLst>
    <p:sldId id="271" r:id="rId5"/>
    <p:sldId id="278" r:id="rId6"/>
    <p:sldId id="282" r:id="rId7"/>
    <p:sldId id="283" r:id="rId8"/>
    <p:sldId id="284" r:id="rId9"/>
    <p:sldId id="293" r:id="rId10"/>
    <p:sldId id="286" r:id="rId11"/>
    <p:sldId id="288" r:id="rId12"/>
    <p:sldId id="289" r:id="rId13"/>
    <p:sldId id="290" r:id="rId14"/>
    <p:sldId id="292" r:id="rId15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168" y="11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A2661D89-2535-43DF-BD6D-0DECFACAC0B2}" type="datetime1">
              <a:rPr lang="de-DE" smtClean="0"/>
              <a:t>05.11.2025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CFA70580-B89C-4157-871D-6B9318EE5F58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7C6030AF-4347-4F6A-861E-8AEA70B77203}" type="datetime1">
              <a:rPr lang="de-DE" smtClean="0"/>
              <a:t>05.11.2025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E7AF00E9-A49D-4007-B3B9-A3783809E50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ED1B4-8A08-6C4C-2EFA-D393D789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ADFA76E-4782-97D4-F901-725D4EA9F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6AE5C13-DDCA-F1FE-38BA-6C84810B4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EA69F0-E73D-AA61-19D9-513899467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8002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6108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5159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de-DE" dirty="0"/>
            </a:lvl1pPr>
          </a:lstStyle>
          <a:p>
            <a:pPr lvl="0" rtl="0">
              <a:lnSpc>
                <a:spcPct val="100000"/>
              </a:lnSpc>
            </a:pPr>
            <a:r>
              <a:rPr lang="de-DE"/>
              <a:t>Titel durch Klicken hinzufügen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gesordn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el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200">
                <a:solidFill>
                  <a:schemeClr val="tx1"/>
                </a:solidFill>
              </a:defRPr>
            </a:lvl2pPr>
            <a:lvl3pPr>
              <a:defRPr lang="de-DE" sz="1200">
                <a:solidFill>
                  <a:schemeClr val="tx1"/>
                </a:solidFill>
              </a:defRPr>
            </a:lvl3pPr>
            <a:lvl4pPr>
              <a:defRPr lang="de-DE" sz="1200">
                <a:solidFill>
                  <a:schemeClr val="tx1"/>
                </a:solidFill>
              </a:defRPr>
            </a:lvl4pPr>
            <a:lvl5pPr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Inhalt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‹Nr.›</a:t>
            </a:fld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ihand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8" name="Freihand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11" name="Ellipse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ihandform: Form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ihandform: Form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</p:grp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ihandform: Form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de-DE" sz="54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Untertitel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de-DE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reihandf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2" name="Freihandf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3" name="Freihandf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8" name="Bildplatzhalter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de-DE" sz="18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ihandform: Form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ihandform: Form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</p:grp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ihandform: Form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de-DE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de-DE" sz="1800">
                <a:solidFill>
                  <a:schemeClr val="tx1"/>
                </a:solidFill>
              </a:defRPr>
            </a:lvl1pPr>
            <a:lvl2pPr>
              <a:defRPr lang="de-DE" sz="1200">
                <a:solidFill>
                  <a:schemeClr val="tx1"/>
                </a:solidFill>
              </a:defRPr>
            </a:lvl2pPr>
            <a:lvl3pPr>
              <a:defRPr lang="de-DE" sz="1200">
                <a:solidFill>
                  <a:schemeClr val="tx1"/>
                </a:solidFill>
              </a:defRPr>
            </a:lvl3pPr>
            <a:lvl4pPr>
              <a:defRPr lang="de-DE" sz="1200">
                <a:solidFill>
                  <a:schemeClr val="tx1"/>
                </a:solidFill>
              </a:defRPr>
            </a:lvl4pPr>
            <a:lvl5pPr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Bil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de-DE" sz="1800">
                <a:solidFill>
                  <a:schemeClr val="tx1"/>
                </a:solidFill>
              </a:defRPr>
            </a:lvl1pPr>
            <a:lvl2pPr algn="r">
              <a:defRPr lang="de-DE" sz="1200">
                <a:solidFill>
                  <a:schemeClr val="tx1"/>
                </a:solidFill>
              </a:defRPr>
            </a:lvl2pPr>
            <a:lvl3pPr algn="r">
              <a:defRPr lang="de-DE" sz="1200">
                <a:solidFill>
                  <a:schemeClr val="tx1"/>
                </a:solidFill>
              </a:defRPr>
            </a:lvl3pPr>
            <a:lvl4pPr algn="r">
              <a:defRPr lang="de-DE" sz="1200">
                <a:solidFill>
                  <a:schemeClr val="tx1"/>
                </a:solidFill>
              </a:defRPr>
            </a:lvl4pPr>
            <a:lvl5pPr algn="r"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reihandform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0" name="Freihandform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1" name="Freihandform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rtlCol="0" anchor="t" anchorCtr="0">
            <a:noAutofit/>
          </a:bodyPr>
          <a:lstStyle>
            <a:lvl1pPr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200">
                <a:solidFill>
                  <a:schemeClr val="tx1"/>
                </a:solidFill>
              </a:defRPr>
            </a:lvl2pPr>
            <a:lvl3pPr>
              <a:defRPr lang="de-DE" sz="1200">
                <a:solidFill>
                  <a:schemeClr val="tx1"/>
                </a:solidFill>
              </a:defRPr>
            </a:lvl3pPr>
            <a:lvl4pPr>
              <a:defRPr lang="de-DE" sz="1200">
                <a:solidFill>
                  <a:schemeClr val="tx1"/>
                </a:solidFill>
              </a:defRPr>
            </a:lvl4pPr>
            <a:lvl5pPr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 rtlCol="0">
            <a:normAutofit/>
          </a:bodyPr>
          <a:lstStyle>
            <a:lvl1pPr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Tabelle durch Klicken auf Symbol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908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ihandform: Form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15" name="Freihandform: Form 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800">
                <a:solidFill>
                  <a:schemeClr val="tx1"/>
                </a:solidFill>
              </a:defRPr>
            </a:lvl2pPr>
            <a:lvl3pPr>
              <a:defRPr lang="de-DE" sz="1800">
                <a:solidFill>
                  <a:schemeClr val="tx1"/>
                </a:solidFill>
              </a:defRPr>
            </a:lvl3pPr>
            <a:lvl4pPr>
              <a:defRPr lang="de-DE" sz="1800">
                <a:solidFill>
                  <a:schemeClr val="tx1"/>
                </a:solidFill>
              </a:defRPr>
            </a:lvl4pPr>
            <a:lvl5pPr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800">
                <a:solidFill>
                  <a:schemeClr val="tx1"/>
                </a:solidFill>
              </a:defRPr>
            </a:lvl2pPr>
            <a:lvl3pPr>
              <a:defRPr lang="de-DE" sz="1800">
                <a:solidFill>
                  <a:schemeClr val="tx1"/>
                </a:solidFill>
              </a:defRPr>
            </a:lvl3pPr>
            <a:lvl4pPr>
              <a:defRPr lang="de-DE" sz="1800">
                <a:solidFill>
                  <a:schemeClr val="tx1"/>
                </a:solidFill>
              </a:defRPr>
            </a:lvl4pPr>
            <a:lvl5pPr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de-DE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ihandform: Form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de-DE" sz="64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de-DE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36" name="Freihandform: Form 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de-DE"/>
            </a:defPPr>
          </a:lstStyle>
          <a:p>
            <a:pPr lvl="0" rtl="0">
              <a:lnSpc>
                <a:spcPct val="100000"/>
              </a:lnSpc>
            </a:pPr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de-DE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de-DE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de-DE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de-DE" smtClean="0"/>
              <a:pPr rtl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704" r:id="rId6"/>
    <p:sldLayoutId id="2147483699" r:id="rId7"/>
    <p:sldLayoutId id="2147483700" r:id="rId8"/>
    <p:sldLayoutId id="2147483688" r:id="rId9"/>
    <p:sldLayoutId id="2147483686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5509263"/>
          </a:xfrm>
        </p:spPr>
        <p:txBody>
          <a:bodyPr wrap="square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Bird Strikes</a:t>
            </a:r>
          </a:p>
        </p:txBody>
      </p:sp>
      <p:pic>
        <p:nvPicPr>
          <p:cNvPr id="1032" name="Picture 8" descr="Why do planes suffer such heavy damage when hit by birds? | Scarecrow">
            <a:extLst>
              <a:ext uri="{FF2B5EF4-FFF2-40B4-BE49-F238E27FC236}">
                <a16:creationId xmlns:a16="http://schemas.microsoft.com/office/drawing/2014/main" id="{B1C7515E-ADCB-FD08-C4AF-9E9C74B31DC8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81" r="21746"/>
          <a:stretch>
            <a:fillRect/>
          </a:stretch>
        </p:blipFill>
        <p:spPr bwMode="auto">
          <a:xfrm>
            <a:off x="20" y="10"/>
            <a:ext cx="6267430" cy="685799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CB85258-9C3F-EB38-54A9-7F92226325C0}"/>
              </a:ext>
            </a:extLst>
          </p:cNvPr>
          <p:cNvSpPr txBox="1"/>
          <p:nvPr/>
        </p:nvSpPr>
        <p:spPr>
          <a:xfrm>
            <a:off x="6581775" y="5981700"/>
            <a:ext cx="5060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Justin-Jay Balaba und Nikita Kusch</a:t>
            </a:r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sz="3600" dirty="0"/>
              <a:t>Bird-Strike Dataset besteht aus</a:t>
            </a:r>
          </a:p>
        </p:txBody>
      </p:sp>
      <p:pic>
        <p:nvPicPr>
          <p:cNvPr id="2050" name="Picture 2" descr="Ein Vogel sitzt auf einem Dach neben einem Flugzeug Foto – Kostenloses Bild  zum Thema Vogel auf Unsplash">
            <a:extLst>
              <a:ext uri="{FF2B5EF4-FFF2-40B4-BE49-F238E27FC236}">
                <a16:creationId xmlns:a16="http://schemas.microsoft.com/office/drawing/2014/main" id="{70A5C3DE-F745-098E-4027-988225EC1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8716" y="1623186"/>
            <a:ext cx="4555505" cy="304080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1DC3BED-638F-8646-2C28-D2FD05DEBECA}"/>
              </a:ext>
            </a:extLst>
          </p:cNvPr>
          <p:cNvSpPr txBox="1"/>
          <p:nvPr/>
        </p:nvSpPr>
        <p:spPr>
          <a:xfrm>
            <a:off x="491824" y="1097790"/>
            <a:ext cx="64625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Jahre von 1990 – 2015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Vogel-/Tierarten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Flugzeug typen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Flughäfen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Schadensarten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uvm</a:t>
            </a:r>
            <a:r>
              <a:rPr lang="de-DE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4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3744936-BF1E-EC60-8544-21C3DE7AFE87}"/>
              </a:ext>
            </a:extLst>
          </p:cNvPr>
          <p:cNvSpPr txBox="1"/>
          <p:nvPr/>
        </p:nvSpPr>
        <p:spPr>
          <a:xfrm>
            <a:off x="416450" y="3681870"/>
            <a:ext cx="63093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latin typeface="Gill Sans MT (Textkörper)"/>
              </a:rPr>
              <a:t>Insgesamt 66 Kategorien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latin typeface="Gill Sans MT (Textkörper)"/>
              </a:rPr>
              <a:t>365.823 Einträge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latin typeface="Gill Sans MT (Textkörper)"/>
              </a:rPr>
              <a:t>715 verschiedene Tierarten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latin typeface="Gill Sans MT (Textkörper)"/>
              </a:rPr>
              <a:t>14 mögliche beschädigte Flugzeugteile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latin typeface="Gill Sans MT (Textkörper)"/>
              </a:rPr>
              <a:t>Beinhaltet sowohl Militärflugzeuge als auch zivile Flugzeuge, Helikopter etc.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latin typeface="Gill Sans MT (Textkörper)"/>
              </a:rPr>
              <a:t>u. v. m.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CA602A4-ED50-BDDA-A065-56403D786297}"/>
              </a:ext>
            </a:extLst>
          </p:cNvPr>
          <p:cNvSpPr txBox="1"/>
          <p:nvPr/>
        </p:nvSpPr>
        <p:spPr>
          <a:xfrm>
            <a:off x="3946034" y="2774254"/>
            <a:ext cx="2779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(Nicht alles berücksichtigt)</a:t>
            </a:r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5542025"/>
          </a:xfrm>
        </p:spPr>
        <p:txBody>
          <a:bodyPr wrap="square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Trend der Bird-Strikes</a:t>
            </a:r>
          </a:p>
        </p:txBody>
      </p:sp>
      <p:pic>
        <p:nvPicPr>
          <p:cNvPr id="5" name="Picture 3" descr="Vogel landet auf einem Baum">
            <a:extLst>
              <a:ext uri="{FF2B5EF4-FFF2-40B4-BE49-F238E27FC236}">
                <a16:creationId xmlns:a16="http://schemas.microsoft.com/office/drawing/2014/main" id="{57A89B1E-7441-6492-2F49-D8D5586F98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02" r="28126" b="1"/>
          <a:stretch>
            <a:fillRect/>
          </a:stretch>
        </p:blipFill>
        <p:spPr>
          <a:xfrm>
            <a:off x="20" y="10"/>
            <a:ext cx="626743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Reihe, Diagramm, Zahl enthält.">
            <a:extLst>
              <a:ext uri="{FF2B5EF4-FFF2-40B4-BE49-F238E27FC236}">
                <a16:creationId xmlns:a16="http://schemas.microsoft.com/office/drawing/2014/main" id="{10765D7D-9A63-C9B6-6113-7B12739158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88" y="361183"/>
            <a:ext cx="4264160" cy="2687207"/>
          </a:xfrm>
          <a:prstGeom prst="rect">
            <a:avLst/>
          </a:prstGeom>
        </p:spPr>
      </p:pic>
      <p:pic>
        <p:nvPicPr>
          <p:cNvPr id="14" name="Grafik 13" descr="Ein Bild, das Text, Screenshot, Diagramm, Reihe enthält.">
            <a:extLst>
              <a:ext uri="{FF2B5EF4-FFF2-40B4-BE49-F238E27FC236}">
                <a16:creationId xmlns:a16="http://schemas.microsoft.com/office/drawing/2014/main" id="{035786D6-4A09-B406-B97A-E03020D7E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88" y="3332983"/>
            <a:ext cx="4264160" cy="298944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9AE01221-4224-6953-E704-52E449CAA2E1}"/>
              </a:ext>
            </a:extLst>
          </p:cNvPr>
          <p:cNvSpPr txBox="1"/>
          <p:nvPr/>
        </p:nvSpPr>
        <p:spPr>
          <a:xfrm>
            <a:off x="5202936" y="361183"/>
            <a:ext cx="6525776" cy="336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Ein </a:t>
            </a:r>
            <a:r>
              <a:rPr lang="de-DE" dirty="0" err="1"/>
              <a:t>Birdstrike</a:t>
            </a:r>
            <a:r>
              <a:rPr lang="de-DE" dirty="0"/>
              <a:t> bezeichnet den Zusammenstoß eines Vogels mit einem Flugzeug.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Stetig Wachsender Trend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Von 1990 bis 2015 gab es ein Vorfall anstieg von 383,5%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Vor allem in der Sommerzeit häufiger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Meisten Vorfälle im August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Sieht aus wie eine Glocken Verteilung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17" name="AutoShape 2" descr="Bird Silhouette PNG And Vector Images Free Download - Pngtree">
            <a:extLst>
              <a:ext uri="{FF2B5EF4-FFF2-40B4-BE49-F238E27FC236}">
                <a16:creationId xmlns:a16="http://schemas.microsoft.com/office/drawing/2014/main" id="{27F21B68-CA61-3F04-D0C1-0C6D259C5F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6382512" cy="638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21" name="Grafik 20" descr="Ein Bild, das Dunkelheit, Vogel, Schwarz, Nacht enthält.&#10;&#10;KI-generierte Inhalte können fehlerhaft sein.">
            <a:extLst>
              <a:ext uri="{FF2B5EF4-FFF2-40B4-BE49-F238E27FC236}">
                <a16:creationId xmlns:a16="http://schemas.microsoft.com/office/drawing/2014/main" id="{7E5018E2-01C8-EA0A-7BF2-AE9DD4BED6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727448" y="3149114"/>
            <a:ext cx="4451606" cy="335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>
            <a:extLst>
              <a:ext uri="{FF2B5EF4-FFF2-40B4-BE49-F238E27FC236}">
                <a16:creationId xmlns:a16="http://schemas.microsoft.com/office/drawing/2014/main" id="{A98549FE-DF67-556D-9493-CDC7E97EA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3" y="488315"/>
            <a:ext cx="11090274" cy="1332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171450" marR="0" lvl="0" indent="-1714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e-DE" altLang="de-DE" sz="1600" i="0" u="none" strike="noStrike" kern="1200" cap="none" normalizeH="0" baseline="0" dirty="0">
                <a:ln>
                  <a:noFill/>
                </a:ln>
                <a:effectLst/>
                <a:latin typeface="Gill Sans MT (Textkörper)"/>
                <a:ea typeface="+mj-ea"/>
                <a:cs typeface="+mj-cs"/>
              </a:rPr>
              <a:t>Häufigste Phase: Landeanflug (APPROACH) fast 50.000 Fälle.</a:t>
            </a:r>
          </a:p>
          <a:p>
            <a:pPr marL="171450" marR="0" lvl="0" indent="-1714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e-DE" altLang="de-DE" sz="1600" i="0" u="none" strike="noStrike" kern="1200" cap="none" normalizeH="0" baseline="0" dirty="0">
                <a:ln>
                  <a:noFill/>
                </a:ln>
                <a:effectLst/>
                <a:latin typeface="Gill Sans MT (Textkörper)"/>
                <a:ea typeface="+mj-ea"/>
                <a:cs typeface="+mj-cs"/>
              </a:rPr>
              <a:t>Zweite Gruppe: Startlauf, Landungsausrollen und Steigflug folgen mit jeweils etwa 20.000 Fällen.</a:t>
            </a:r>
          </a:p>
          <a:p>
            <a:pPr marL="171450" marR="0" lvl="0" indent="-1714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e-DE" altLang="de-DE" sz="1600" i="0" u="none" strike="noStrike" kern="1200" cap="none" normalizeH="0" baseline="0" dirty="0">
                <a:ln>
                  <a:noFill/>
                </a:ln>
                <a:effectLst/>
                <a:latin typeface="Gill Sans MT (Textkörper)"/>
                <a:ea typeface="+mj-ea"/>
                <a:cs typeface="+mj-cs"/>
              </a:rPr>
              <a:t>Selten: Im Reiseflug (EN ROUTE) und Sinkflug (DESCENT) treten deutlich weniger Kollisionen auf.</a:t>
            </a:r>
          </a:p>
          <a:p>
            <a:pPr marL="171450" marR="0" lvl="0" indent="-1714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e-DE" altLang="de-DE" sz="1600" i="0" u="none" strike="noStrike" kern="1200" cap="none" normalizeH="0" baseline="0" dirty="0">
                <a:ln>
                  <a:noFill/>
                </a:ln>
                <a:effectLst/>
                <a:latin typeface="Gill Sans MT (Textkörper)"/>
                <a:ea typeface="+mj-ea"/>
                <a:cs typeface="+mj-cs"/>
              </a:rPr>
              <a:t>Nahezu vernachlässigbar:  Am Boden (TAXI, PARKED) und bei Arrival/</a:t>
            </a:r>
            <a:r>
              <a:rPr kumimoji="0" lang="de-DE" altLang="de-DE" sz="1600" i="0" u="none" strike="noStrike" kern="1200" cap="none" normalizeH="0" baseline="0" dirty="0" err="1">
                <a:ln>
                  <a:noFill/>
                </a:ln>
                <a:effectLst/>
                <a:latin typeface="Gill Sans MT (Textkörper)"/>
                <a:ea typeface="+mj-ea"/>
                <a:cs typeface="+mj-cs"/>
              </a:rPr>
              <a:t>Local</a:t>
            </a:r>
            <a:r>
              <a:rPr kumimoji="0" lang="de-DE" altLang="de-DE" sz="1600" i="0" u="none" strike="noStrike" kern="1200" cap="none" normalizeH="0" baseline="0" dirty="0">
                <a:ln>
                  <a:noFill/>
                </a:ln>
                <a:effectLst/>
                <a:latin typeface="Gill Sans MT (Textkörper)"/>
                <a:ea typeface="+mj-ea"/>
                <a:cs typeface="+mj-cs"/>
              </a:rPr>
              <a:t>/Departure sind </a:t>
            </a:r>
            <a:r>
              <a:rPr kumimoji="0" lang="de-DE" altLang="de-DE" sz="1600" i="0" u="none" strike="noStrike" kern="1200" cap="none" normalizeH="0" baseline="0" dirty="0" err="1">
                <a:ln>
                  <a:noFill/>
                </a:ln>
                <a:effectLst/>
                <a:latin typeface="Gill Sans MT (Textkörper)"/>
                <a:ea typeface="+mj-ea"/>
                <a:cs typeface="+mj-cs"/>
              </a:rPr>
              <a:t>Birdstrikes</a:t>
            </a:r>
            <a:r>
              <a:rPr kumimoji="0" lang="de-DE" altLang="de-DE" sz="1600" i="0" u="none" strike="noStrike" kern="1200" cap="none" normalizeH="0" baseline="0" dirty="0">
                <a:ln>
                  <a:noFill/>
                </a:ln>
                <a:effectLst/>
                <a:latin typeface="Gill Sans MT (Textkörper)"/>
                <a:ea typeface="+mj-ea"/>
                <a:cs typeface="+mj-cs"/>
              </a:rPr>
              <a:t> sehr selten.</a:t>
            </a:r>
          </a:p>
        </p:txBody>
      </p:sp>
      <p:pic>
        <p:nvPicPr>
          <p:cNvPr id="4104" name="Picture 8" descr="Phases of Flight - اسأل الطيار ask pilot">
            <a:extLst>
              <a:ext uri="{FF2B5EF4-FFF2-40B4-BE49-F238E27FC236}">
                <a16:creationId xmlns:a16="http://schemas.microsoft.com/office/drawing/2014/main" id="{43483FE0-F306-9F90-D50C-C108F4E2F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8"/>
          <a:stretch>
            <a:fillRect/>
          </a:stretch>
        </p:blipFill>
        <p:spPr bwMode="auto">
          <a:xfrm>
            <a:off x="550862" y="1965095"/>
            <a:ext cx="5435600" cy="399565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nhaltsplatzhalter 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71A2F18-B905-BF33-F8D4-32A9F601BA92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1" b="-1"/>
          <a:stretch>
            <a:fillRect/>
          </a:stretch>
        </p:blipFill>
        <p:spPr>
          <a:xfrm>
            <a:off x="6301305" y="1965095"/>
            <a:ext cx="5339397" cy="3995650"/>
          </a:xfrm>
          <a:noFill/>
        </p:spPr>
      </p:pic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48E45-B63A-C903-051C-E410D36A4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29EB28-B70F-556B-CD14-2E47207EB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5542025"/>
          </a:xfrm>
        </p:spPr>
        <p:txBody>
          <a:bodyPr wrap="square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Welche Vögel sind am meisten betroffen?</a:t>
            </a:r>
          </a:p>
        </p:txBody>
      </p:sp>
      <p:pic>
        <p:nvPicPr>
          <p:cNvPr id="4" name="Picture 3" descr="Rotkehlchen, Vogel mit roter Brust, auf Zweigen hockend">
            <a:extLst>
              <a:ext uri="{FF2B5EF4-FFF2-40B4-BE49-F238E27FC236}">
                <a16:creationId xmlns:a16="http://schemas.microsoft.com/office/drawing/2014/main" id="{1A799FCC-8F32-A251-BA26-49F365202A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72" r="17925" b="-1"/>
          <a:stretch>
            <a:fillRect/>
          </a:stretch>
        </p:blipFill>
        <p:spPr>
          <a:xfrm>
            <a:off x="20" y="10"/>
            <a:ext cx="626743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2307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Screenshot, Reihe, Diagramm enthält.">
            <a:extLst>
              <a:ext uri="{FF2B5EF4-FFF2-40B4-BE49-F238E27FC236}">
                <a16:creationId xmlns:a16="http://schemas.microsoft.com/office/drawing/2014/main" id="{AAF9A085-EE7E-CD6A-5655-BA1F8BE3E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72" y="1410237"/>
            <a:ext cx="4949960" cy="4037525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68500CE5-62E1-8F01-2554-DDE5A87C738E}"/>
              </a:ext>
            </a:extLst>
          </p:cNvPr>
          <p:cNvSpPr txBox="1"/>
          <p:nvPr/>
        </p:nvSpPr>
        <p:spPr>
          <a:xfrm>
            <a:off x="265176" y="630936"/>
            <a:ext cx="58412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dirty="0"/>
              <a:t>Viele unbekannte Vogelarten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dirty="0"/>
              <a:t>Vermutlich durch den Schaden abschätzbar ob es ein Großer oder Kleiner Vogel war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dirty="0"/>
              <a:t>Am häufigsten betroffen: Die Carolina Taube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dirty="0"/>
              <a:t>Dicht gefolgt von der Möve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dirty="0"/>
              <a:t>Und dem Keilschwanz-</a:t>
            </a:r>
            <a:r>
              <a:rPr lang="de-DE" dirty="0" err="1"/>
              <a:t>Regenpfeiffer</a:t>
            </a: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</p:txBody>
      </p:sp>
      <p:pic>
        <p:nvPicPr>
          <p:cNvPr id="5122" name="Picture 2" descr="California Gull Identification, All About Birds, Cornell Lab of Ornithology">
            <a:extLst>
              <a:ext uri="{FF2B5EF4-FFF2-40B4-BE49-F238E27FC236}">
                <a16:creationId xmlns:a16="http://schemas.microsoft.com/office/drawing/2014/main" id="{8957D890-5CBA-8429-440D-396C3B86C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816" y="3404725"/>
            <a:ext cx="2041296" cy="153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AutoShape 4" descr="Killdeer | Celebrate Urban Birds">
            <a:extLst>
              <a:ext uri="{FF2B5EF4-FFF2-40B4-BE49-F238E27FC236}">
                <a16:creationId xmlns:a16="http://schemas.microsoft.com/office/drawing/2014/main" id="{91E7B43D-30D5-433D-B5CB-40FC33C6EE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7" name="AutoShape 6" descr="Killdeer | Celebrate Urban Birds">
            <a:extLst>
              <a:ext uri="{FF2B5EF4-FFF2-40B4-BE49-F238E27FC236}">
                <a16:creationId xmlns:a16="http://schemas.microsoft.com/office/drawing/2014/main" id="{AFA33E8B-A02A-3EBE-B92A-566F157C6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05B7358E-F2CB-5532-56B2-0F912D0C8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98" y="1865376"/>
            <a:ext cx="2336141" cy="1563624"/>
          </a:xfrm>
          <a:prstGeom prst="rect">
            <a:avLst/>
          </a:prstGeom>
        </p:spPr>
      </p:pic>
      <p:pic>
        <p:nvPicPr>
          <p:cNvPr id="5132" name="Picture 12" descr="Keilschwanz-Regenpfeifer – Wikipedia">
            <a:extLst>
              <a:ext uri="{FF2B5EF4-FFF2-40B4-BE49-F238E27FC236}">
                <a16:creationId xmlns:a16="http://schemas.microsoft.com/office/drawing/2014/main" id="{D0878DBA-DA57-F16A-8E98-F5A3D5995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742" y="5248656"/>
            <a:ext cx="2018670" cy="134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reihandform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8" name="Freihandform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634" y="2171614"/>
            <a:ext cx="4899628" cy="2331490"/>
          </a:xfrm>
          <a:noFill/>
        </p:spPr>
        <p:txBody>
          <a:bodyPr rtlCol="0" anchor="b"/>
          <a:lstStyle>
            <a:defPPr>
              <a:defRPr lang="de-DE"/>
            </a:defPPr>
          </a:lstStyle>
          <a:p>
            <a:pPr rtl="0"/>
            <a:r>
              <a:rPr lang="de-DE" dirty="0"/>
              <a:t>Welcher Vogel verursacht am häufigsten Schäden?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pic>
        <p:nvPicPr>
          <p:cNvPr id="6150" name="Picture 6" descr="Bird strike tears open radome of SIA 777 | News | Flight Global">
            <a:extLst>
              <a:ext uri="{FF2B5EF4-FFF2-40B4-BE49-F238E27FC236}">
                <a16:creationId xmlns:a16="http://schemas.microsoft.com/office/drawing/2014/main" id="{EA641A61-658E-F87B-8446-8A0D520B4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132" y="289359"/>
            <a:ext cx="457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AC427355-36FE-7D81-7A0E-FFDDC8F25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49" y="1478820"/>
            <a:ext cx="6538059" cy="390035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35C647E-350C-373F-5237-F55FA0E695C6}"/>
              </a:ext>
            </a:extLst>
          </p:cNvPr>
          <p:cNvSpPr txBox="1"/>
          <p:nvPr/>
        </p:nvSpPr>
        <p:spPr>
          <a:xfrm>
            <a:off x="7237379" y="846306"/>
            <a:ext cx="46790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dirty="0"/>
              <a:t>Als Kleiner Vogel: &lt;100g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dirty="0"/>
              <a:t>Als Mittelgroßer Vogel: 100g &lt; x &gt; 1000g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dirty="0"/>
              <a:t>Als großer Vogel: 1000g &lt;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dirty="0"/>
              <a:t>Am Meisten verursachen Mittelgroße Vögel Schäden.  Jedoch welcher Vogel genau ist Unbekannt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dirty="0"/>
              <a:t>Von den bekannten Vögeln sind </a:t>
            </a:r>
            <a:r>
              <a:rPr lang="de-DE" dirty="0" err="1"/>
              <a:t>Möven</a:t>
            </a:r>
            <a:r>
              <a:rPr lang="de-DE" dirty="0"/>
              <a:t> und die Kanadische Gans am häufigsten Verursacher von Schäden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BE628AE-7047-5A3E-F747-69C7CEA77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799" y="4344813"/>
            <a:ext cx="1975671" cy="150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Möve stockfoto. Bild von farbe, schnabel, strand, alge - 23284564">
            <a:extLst>
              <a:ext uri="{FF2B5EF4-FFF2-40B4-BE49-F238E27FC236}">
                <a16:creationId xmlns:a16="http://schemas.microsoft.com/office/drawing/2014/main" id="{9F8BBA38-F499-F77F-5998-4BBFD0E35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179" y="4344814"/>
            <a:ext cx="2138173" cy="150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7661BB9-F705-5AB9-C22E-B5B10545AB5E}"/>
              </a:ext>
            </a:extLst>
          </p:cNvPr>
          <p:cNvSpPr txBox="1"/>
          <p:nvPr/>
        </p:nvSpPr>
        <p:spPr>
          <a:xfrm>
            <a:off x="6994187" y="5963055"/>
            <a:ext cx="4834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Möve: je nach Art bis zu 2kg mind. 290g</a:t>
            </a:r>
          </a:p>
          <a:p>
            <a:r>
              <a:rPr lang="de-DE" dirty="0"/>
              <a:t>Kanadische Gans: 3-6kg</a:t>
            </a:r>
          </a:p>
        </p:txBody>
      </p:sp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48EA5542-E3FA-493B-E4E3-77309051E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10" y="624511"/>
            <a:ext cx="6207845" cy="3703366"/>
          </a:xfrm>
          <a:prstGeom prst="rect">
            <a:avLst/>
          </a:prstGeom>
        </p:spPr>
      </p:pic>
      <p:pic>
        <p:nvPicPr>
          <p:cNvPr id="8194" name="Picture 2" descr="aircraft operations - How are engines numbered? - Aviation Stack Exchange">
            <a:extLst>
              <a:ext uri="{FF2B5EF4-FFF2-40B4-BE49-F238E27FC236}">
                <a16:creationId xmlns:a16="http://schemas.microsoft.com/office/drawing/2014/main" id="{68550A4A-4E09-F483-5BE2-138F6A26E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2" y="4591050"/>
            <a:ext cx="5439683" cy="181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5928D60E-703A-29B5-3536-EBC391937137}"/>
              </a:ext>
            </a:extLst>
          </p:cNvPr>
          <p:cNvSpPr txBox="1"/>
          <p:nvPr/>
        </p:nvSpPr>
        <p:spPr>
          <a:xfrm>
            <a:off x="6639494" y="713232"/>
            <a:ext cx="5340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Am häufigsten ist der Rotor oder die Flügel betroffen mit über 4000 Vorfällen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Gefolgt von den 2 Inneren </a:t>
            </a:r>
            <a:r>
              <a:rPr lang="de-DE" dirty="0" err="1"/>
              <a:t>Engines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8196" name="Picture 4" descr="Paris flight emergency landing | Paris-bound flight makes emergency landing  after bird strike destroys nose of plane, smoke fills cabin - Telegraph  India">
            <a:extLst>
              <a:ext uri="{FF2B5EF4-FFF2-40B4-BE49-F238E27FC236}">
                <a16:creationId xmlns:a16="http://schemas.microsoft.com/office/drawing/2014/main" id="{A301A440-D32D-ABD5-0F55-7733536B4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534" y="3396996"/>
            <a:ext cx="4519422" cy="301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Vielen Dank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3646704"/>
            <a:ext cx="5179330" cy="2706160"/>
          </a:xfrm>
          <a:noFill/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893DB09-EC29-7009-CF0D-8F1EB3E891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0_TF33713516_Win32" id="{FA432118-3671-4A9A-B6AE-C8E661E198BC}" vid="{CDB7179C-22AA-4A70-AACE-21A927A13D6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microsoft.com/sharepoint/v3"/>
    <ds:schemaRef ds:uri="http://purl.org/dc/dcmitype/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{965DC4EB-BEB7-40D5-90CD-8900AEE3FF93}tf33713516_win32</Template>
  <TotalTime>0</TotalTime>
  <Words>312</Words>
  <Application>Microsoft Office PowerPoint</Application>
  <PresentationFormat>Breitbild</PresentationFormat>
  <Paragraphs>68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9" baseType="lpstr">
      <vt:lpstr>Arial</vt:lpstr>
      <vt:lpstr>Calibri</vt:lpstr>
      <vt:lpstr>Courier New</vt:lpstr>
      <vt:lpstr>Gill Sans MT</vt:lpstr>
      <vt:lpstr>Gill Sans MT (Textkörper)</vt:lpstr>
      <vt:lpstr>Walbaum Display</vt:lpstr>
      <vt:lpstr>Wingdings</vt:lpstr>
      <vt:lpstr>3DFloatVTI</vt:lpstr>
      <vt:lpstr>Bird Strikes</vt:lpstr>
      <vt:lpstr>Bird-Strike Dataset besteht aus</vt:lpstr>
      <vt:lpstr>Trend der Bird-Strikes</vt:lpstr>
      <vt:lpstr>PowerPoint-Präsentation</vt:lpstr>
      <vt:lpstr>PowerPoint-Präsentation</vt:lpstr>
      <vt:lpstr>Welche Vögel sind am meisten betroffen?</vt:lpstr>
      <vt:lpstr>PowerPoint-Präsentation</vt:lpstr>
      <vt:lpstr>Welcher Vogel verursacht am häufigsten Schäden?</vt:lpstr>
      <vt:lpstr>PowerPoint-Präsentation</vt:lpstr>
      <vt:lpstr>PowerPoint-Präsentation</vt:lpstr>
      <vt:lpstr>Vielen Dank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Justin-Jay Balaba</dc:creator>
  <cp:lastModifiedBy>Justin-Jay Balaba</cp:lastModifiedBy>
  <cp:revision>21</cp:revision>
  <dcterms:created xsi:type="dcterms:W3CDTF">2025-11-05T10:53:24Z</dcterms:created>
  <dcterms:modified xsi:type="dcterms:W3CDTF">2025-11-06T01:47:13Z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